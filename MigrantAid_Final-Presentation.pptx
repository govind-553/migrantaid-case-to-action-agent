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04" autoAdjust="0"/>
    <p:restoredTop sz="94660"/>
  </p:normalViewPr>
  <p:slideViewPr>
    <p:cSldViewPr snapToGrid="0" snapToObjects="1">
      <p:cViewPr>
        <p:scale>
          <a:sx n="87" d="100"/>
          <a:sy n="87" d="100"/>
        </p:scale>
        <p:origin x="389" y="-31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F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01168" y="118872"/>
            <a:ext cx="11658600" cy="50292"/>
          </a:xfrm>
          <a:prstGeom prst="rect">
            <a:avLst/>
          </a:prstGeom>
          <a:solidFill>
            <a:srgbClr val="375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420624"/>
            <a:ext cx="3657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A6B5CF"/>
                </a:solidFill>
                <a:latin typeface="Aptos"/>
              </a:rPr>
              <a:t>MIGRANTAID  •  CASE-TO-ACTION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49808"/>
            <a:ext cx="78638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5F8FF"/>
                </a:solidFill>
                <a:latin typeface="Aptos Display"/>
              </a:rPr>
              <a:t>From messy case narratives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170432"/>
            <a:ext cx="78638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5F8FF"/>
                </a:solidFill>
                <a:latin typeface="Aptos Display"/>
              </a:rPr>
              <a:t>to evidence-backed action.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73352"/>
            <a:ext cx="795527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A6B5CF"/>
                </a:solidFill>
                <a:latin typeface="Aptos"/>
              </a:rPr>
              <a:t>A human-in-the-loop workflow for supporting migrant workers and families.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42832" y="612648"/>
            <a:ext cx="2395728" cy="1572768"/>
          </a:xfrm>
          <a:prstGeom prst="roundRect">
            <a:avLst/>
          </a:prstGeom>
          <a:solidFill>
            <a:srgbClr val="0F1B37"/>
          </a:solidFill>
          <a:ln w="12700">
            <a:solidFill>
              <a:srgbClr val="2E43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71432" y="832104"/>
            <a:ext cx="1600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F5F8FF"/>
                </a:solidFill>
                <a:latin typeface="Aptos"/>
              </a:rPr>
              <a:t>MigrantAid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71432" y="1197864"/>
            <a:ext cx="15087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6B5CF"/>
                </a:solidFill>
                <a:latin typeface="Aptos"/>
              </a:rPr>
              <a:t>Evidence-backed</a:t>
            </a:r>
            <a:br/>
            <a:r>
              <a:rPr sz="1050" b="0">
                <a:solidFill>
                  <a:srgbClr val="A6B5CF"/>
                </a:solidFill>
                <a:latin typeface="Aptos"/>
              </a:rPr>
              <a:t>casework assistance</a:t>
            </a:r>
          </a:p>
        </p:txBody>
      </p:sp>
      <p:sp>
        <p:nvSpPr>
          <p:cNvPr id="10" name="Hexagon 9"/>
          <p:cNvSpPr/>
          <p:nvPr/>
        </p:nvSpPr>
        <p:spPr>
          <a:xfrm>
            <a:off x="10561320" y="1078992"/>
            <a:ext cx="475488" cy="530352"/>
          </a:xfrm>
          <a:prstGeom prst="hexagon">
            <a:avLst/>
          </a:prstGeom>
          <a:solidFill>
            <a:srgbClr val="375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61320" y="1097280"/>
            <a:ext cx="47548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5F8FF"/>
                </a:solidFill>
                <a:latin typeface="Aptos"/>
              </a:rPr>
              <a:t>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2267712"/>
            <a:ext cx="3474720" cy="1188720"/>
          </a:xfrm>
          <a:prstGeom prst="roundRect">
            <a:avLst/>
          </a:prstGeom>
          <a:solidFill>
            <a:srgbClr val="0F1B37"/>
          </a:solidFill>
          <a:ln w="12700">
            <a:solidFill>
              <a:srgbClr val="2E43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77824" y="2432304"/>
            <a:ext cx="310896" cy="310896"/>
          </a:xfrm>
          <a:prstGeom prst="ellipse">
            <a:avLst/>
          </a:prstGeom>
          <a:solidFill>
            <a:srgbClr val="FF6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77824" y="2450592"/>
            <a:ext cx="310896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>
                <a:solidFill>
                  <a:srgbClr val="070F22"/>
                </a:solidFill>
                <a:latin typeface="Aptos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07592" y="2386584"/>
            <a:ext cx="27432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>
                <a:solidFill>
                  <a:srgbClr val="F5F8FF"/>
                </a:solidFill>
                <a:latin typeface="Aptos"/>
              </a:rPr>
              <a:t>THE PROBLEM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2816352"/>
            <a:ext cx="3145536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6B5CF"/>
                </a:solidFill>
                <a:latin typeface="Aptos"/>
              </a:rPr>
              <a:t>Incomplete and contradictory case information makes safe support difficult.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07408" y="2267712"/>
            <a:ext cx="3474720" cy="1188720"/>
          </a:xfrm>
          <a:prstGeom prst="roundRect">
            <a:avLst/>
          </a:prstGeom>
          <a:solidFill>
            <a:srgbClr val="0F1B37"/>
          </a:solidFill>
          <a:ln w="12700">
            <a:solidFill>
              <a:srgbClr val="2E43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572000" y="2432304"/>
            <a:ext cx="310896" cy="310896"/>
          </a:xfrm>
          <a:prstGeom prst="ellipse">
            <a:avLst/>
          </a:prstGeom>
          <a:solidFill>
            <a:srgbClr val="FFB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0" y="2450592"/>
            <a:ext cx="310896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>
                <a:solidFill>
                  <a:srgbClr val="070F22"/>
                </a:solidFill>
                <a:latin typeface="Aptos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01768" y="2386584"/>
            <a:ext cx="27432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>
                <a:solidFill>
                  <a:srgbClr val="F5F8FF"/>
                </a:solidFill>
                <a:latin typeface="Aptos"/>
              </a:rPr>
              <a:t>THE 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2816352"/>
            <a:ext cx="3145536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6B5CF"/>
                </a:solidFill>
                <a:latin typeface="Aptos"/>
              </a:rPr>
              <a:t>Premature referrals can be made while key eligibility facts remain unknown.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01584" y="2267712"/>
            <a:ext cx="3474720" cy="1188720"/>
          </a:xfrm>
          <a:prstGeom prst="roundRect">
            <a:avLst/>
          </a:prstGeom>
          <a:solidFill>
            <a:srgbClr val="0F1B37"/>
          </a:solidFill>
          <a:ln w="12700">
            <a:solidFill>
              <a:srgbClr val="2E43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266176" y="2432304"/>
            <a:ext cx="310896" cy="310896"/>
          </a:xfrm>
          <a:prstGeom prst="ellipse">
            <a:avLst/>
          </a:prstGeom>
          <a:solidFill>
            <a:srgbClr val="3AB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66176" y="2450592"/>
            <a:ext cx="310896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>
                <a:solidFill>
                  <a:srgbClr val="070F22"/>
                </a:solidFill>
                <a:latin typeface="Aptos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95944" y="2386584"/>
            <a:ext cx="27432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>
                <a:solidFill>
                  <a:srgbClr val="F5F8FF"/>
                </a:solidFill>
                <a:latin typeface="Aptos"/>
              </a:rPr>
              <a:t>THE NEED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66176" y="2816352"/>
            <a:ext cx="3145536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6B5CF"/>
                </a:solidFill>
                <a:latin typeface="Aptos"/>
              </a:rPr>
              <a:t>Caseworkers need evidence, verification and a clear sequence of next actions.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3767328"/>
            <a:ext cx="18288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A6B5CF"/>
                </a:solidFill>
                <a:latin typeface="Aptos"/>
              </a:rPr>
              <a:t>FROM CASE TO DECISION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4096512"/>
            <a:ext cx="3063240" cy="749808"/>
          </a:xfrm>
          <a:prstGeom prst="roundRect">
            <a:avLst/>
          </a:prstGeom>
          <a:solidFill>
            <a:srgbClr val="132242"/>
          </a:solidFill>
          <a:ln w="12700">
            <a:solidFill>
              <a:srgbClr val="2E43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77824" y="4197096"/>
            <a:ext cx="2770632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FF6974"/>
                </a:solidFill>
                <a:latin typeface="Aptos"/>
              </a:rPr>
              <a:t>MESSY INPUT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7824" y="4434840"/>
            <a:ext cx="277063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69" b="1">
                <a:solidFill>
                  <a:srgbClr val="F5F8FF"/>
                </a:solidFill>
                <a:latin typeface="Aptos"/>
              </a:rPr>
              <a:t>Narrative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886200" y="4471416"/>
            <a:ext cx="320040" cy="0"/>
          </a:xfrm>
          <a:prstGeom prst="line">
            <a:avLst/>
          </a:prstGeom>
          <a:ln w="17780">
            <a:solidFill>
              <a:srgbClr val="A6B5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4297680" y="4096512"/>
            <a:ext cx="3063240" cy="749808"/>
          </a:xfrm>
          <a:prstGeom prst="roundRect">
            <a:avLst/>
          </a:prstGeom>
          <a:solidFill>
            <a:srgbClr val="132242"/>
          </a:solidFill>
          <a:ln w="12700">
            <a:solidFill>
              <a:srgbClr val="2E43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443984" y="4197096"/>
            <a:ext cx="2770632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3758FF"/>
                </a:solidFill>
                <a:latin typeface="Aptos"/>
              </a:rPr>
              <a:t>STRUCTURED EVIDENCE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43984" y="4434840"/>
            <a:ext cx="277063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69" b="1">
                <a:solidFill>
                  <a:srgbClr val="F5F8FF"/>
                </a:solidFill>
                <a:latin typeface="Aptos"/>
              </a:rPr>
              <a:t>Facts • needs • matches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452360" y="4471416"/>
            <a:ext cx="320040" cy="0"/>
          </a:xfrm>
          <a:prstGeom prst="line">
            <a:avLst/>
          </a:prstGeom>
          <a:ln w="17780">
            <a:solidFill>
              <a:srgbClr val="A6B5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7863840" y="4096512"/>
            <a:ext cx="3063240" cy="749808"/>
          </a:xfrm>
          <a:prstGeom prst="roundRect">
            <a:avLst/>
          </a:prstGeom>
          <a:solidFill>
            <a:srgbClr val="132242"/>
          </a:solidFill>
          <a:ln w="12700">
            <a:solidFill>
              <a:srgbClr val="2E43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010144" y="4197096"/>
            <a:ext cx="2770632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30CD9A"/>
                </a:solidFill>
                <a:latin typeface="Aptos"/>
              </a:rPr>
              <a:t>CONTROLLED ACTION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10144" y="4434840"/>
            <a:ext cx="277063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69" b="1">
                <a:solidFill>
                  <a:srgbClr val="F5F8FF"/>
                </a:solidFill>
                <a:latin typeface="Aptos"/>
              </a:rPr>
              <a:t>Verification • human review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13232" y="5175504"/>
            <a:ext cx="10881360" cy="713232"/>
          </a:xfrm>
          <a:prstGeom prst="roundRect">
            <a:avLst/>
          </a:prstGeom>
          <a:solidFill>
            <a:srgbClr val="0F1B37"/>
          </a:solidFill>
          <a:ln w="12700">
            <a:solidFill>
              <a:srgbClr val="2E43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14400" y="5349240"/>
            <a:ext cx="12801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A6B5CF"/>
                </a:solidFill>
                <a:latin typeface="Aptos"/>
              </a:rPr>
              <a:t>CORE PRINCIPLE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267712" y="5285232"/>
            <a:ext cx="8961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80" b="1">
                <a:solidFill>
                  <a:srgbClr val="F5F8FF"/>
                </a:solidFill>
                <a:latin typeface="Aptos"/>
              </a:rPr>
              <a:t>AI assists interpretation   •   deterministic rules verify   •   humans stay in control.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0352" y="6419088"/>
            <a:ext cx="39319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A6B5CF"/>
                </a:solidFill>
                <a:latin typeface="Aptos"/>
              </a:rPr>
              <a:t>MigrantAid — Case-to-Action Assistant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292840" y="6419088"/>
            <a:ext cx="4114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A6B5CF"/>
                </a:solidFill>
                <a:latin typeface="Aptos"/>
              </a:rPr>
              <a:t>1/5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0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15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4BBEFF"/>
                </a:solidFill>
                <a:latin typeface="Aptos"/>
              </a:defRPr>
            </a:pPr>
            <a:r>
              <a:t>01 —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7772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5F8FF"/>
                </a:solidFill>
                <a:latin typeface="Aptos"/>
              </a:defRPr>
            </a:pPr>
            <a:r>
              <a:t>Why MigrantAid is needed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34440"/>
            <a:ext cx="9875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A8B5CF"/>
                </a:solidFill>
                <a:latin typeface="Aptos"/>
              </a:defRPr>
            </a:pPr>
            <a:r>
              <a:t>The platform turns uncertain case information into a controlled, evidence-backed workflow.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78308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4BBEFF"/>
                </a:solidFill>
                <a:latin typeface="Aptos"/>
              </a:defRPr>
            </a:pPr>
            <a:r>
              <a:t>THE NEED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084831"/>
            <a:ext cx="5394960" cy="1143000"/>
          </a:xfrm>
          <a:prstGeom prst="roundRect">
            <a:avLst/>
          </a:prstGeom>
          <a:solidFill>
            <a:srgbClr val="0E1932"/>
          </a:solidFill>
          <a:ln>
            <a:solidFill>
              <a:srgbClr val="3445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49808" y="2249424"/>
            <a:ext cx="438912" cy="438912"/>
          </a:xfrm>
          <a:prstGeom prst="ellipse">
            <a:avLst/>
          </a:prstGeom>
          <a:solidFill>
            <a:srgbClr val="315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2331720"/>
            <a:ext cx="43891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5F8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16736" y="2258568"/>
            <a:ext cx="44622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Aptos"/>
              </a:defRPr>
            </a:pPr>
            <a:r>
              <a:t>Unstructured case information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16736" y="2651760"/>
            <a:ext cx="4462272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80" b="0">
                <a:solidFill>
                  <a:srgbClr val="A8B5CF"/>
                </a:solidFill>
                <a:latin typeface="Aptos"/>
              </a:defRPr>
            </a:pPr>
            <a:r>
              <a:t>Free-form narratives can contain missing facts, contradictions and unclear eligibility.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401568"/>
            <a:ext cx="5394960" cy="1143000"/>
          </a:xfrm>
          <a:prstGeom prst="roundRect">
            <a:avLst/>
          </a:prstGeom>
          <a:solidFill>
            <a:srgbClr val="0E1932"/>
          </a:solidFill>
          <a:ln>
            <a:solidFill>
              <a:srgbClr val="3445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49808" y="3566160"/>
            <a:ext cx="438912" cy="438912"/>
          </a:xfrm>
          <a:prstGeom prst="ellipse">
            <a:avLst/>
          </a:prstGeom>
          <a:solidFill>
            <a:srgbClr val="FBA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9808" y="3648456"/>
            <a:ext cx="43891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5F8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16736" y="3575304"/>
            <a:ext cx="44622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Aptos"/>
              </a:defRPr>
            </a:pPr>
            <a:r>
              <a:t>Risk of premature referrals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16736" y="3968496"/>
            <a:ext cx="4462272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80" b="0">
                <a:solidFill>
                  <a:srgbClr val="A8B5CF"/>
                </a:solidFill>
                <a:latin typeface="Aptos"/>
              </a:defRPr>
            </a:pPr>
            <a:r>
              <a:t>A recommendation should not be treated as eligible when key requirements are unknown.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718304"/>
            <a:ext cx="5394960" cy="1143000"/>
          </a:xfrm>
          <a:prstGeom prst="roundRect">
            <a:avLst/>
          </a:prstGeom>
          <a:solidFill>
            <a:srgbClr val="0E1932"/>
          </a:solidFill>
          <a:ln>
            <a:solidFill>
              <a:srgbClr val="3445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49808" y="4882896"/>
            <a:ext cx="438912" cy="438912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9808" y="4965192"/>
            <a:ext cx="43891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5F8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16736" y="4892040"/>
            <a:ext cx="44622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Aptos"/>
              </a:defRPr>
            </a:pPr>
            <a:r>
              <a:t>Caseworker needs decision support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16736" y="5285232"/>
            <a:ext cx="4462272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80" b="0">
                <a:solidFill>
                  <a:srgbClr val="A8B5CF"/>
                </a:solidFill>
                <a:latin typeface="Aptos"/>
              </a:defRPr>
            </a:pPr>
            <a:r>
              <a:t>The system should surface evidence and uncertainty while keeping the final decision with a human.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1783080"/>
            <a:ext cx="3474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4BBEFF"/>
                </a:solidFill>
                <a:latin typeface="Aptos"/>
              </a:defRPr>
            </a:pPr>
            <a:r>
              <a:t>WHAT MAKES IT DIFFERENT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27648" y="2084831"/>
            <a:ext cx="5285232" cy="1143000"/>
          </a:xfrm>
          <a:prstGeom prst="roundRect">
            <a:avLst/>
          </a:prstGeom>
          <a:solidFill>
            <a:srgbClr val="0E1932"/>
          </a:solidFill>
          <a:ln>
            <a:solidFill>
              <a:srgbClr val="3445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510528" y="2249424"/>
            <a:ext cx="438912" cy="438912"/>
          </a:xfrm>
          <a:prstGeom prst="ellipse">
            <a:avLst/>
          </a:prstGeom>
          <a:solidFill>
            <a:srgbClr val="4B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10528" y="2331720"/>
            <a:ext cx="43891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5F8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77456" y="2258568"/>
            <a:ext cx="435254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Aptos"/>
              </a:defRPr>
            </a:pPr>
            <a:r>
              <a:t>Evidence-grounded matching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77456" y="2651760"/>
            <a:ext cx="4352544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80" b="0">
                <a:solidFill>
                  <a:srgbClr val="A8B5CF"/>
                </a:solidFill>
                <a:latin typeface="Aptos"/>
              </a:defRPr>
            </a:pPr>
            <a:r>
              <a:t>Recommendations are tied to an approved resource knowledge base and visible requirement checks.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27648" y="3401568"/>
            <a:ext cx="5285232" cy="1143000"/>
          </a:xfrm>
          <a:prstGeom prst="roundRect">
            <a:avLst/>
          </a:prstGeom>
          <a:solidFill>
            <a:srgbClr val="0E1932"/>
          </a:solidFill>
          <a:ln>
            <a:solidFill>
              <a:srgbClr val="3445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6510528" y="3566160"/>
            <a:ext cx="438912" cy="438912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10528" y="3648456"/>
            <a:ext cx="43891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5F8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77456" y="3575304"/>
            <a:ext cx="435254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Aptos"/>
              </a:defRPr>
            </a:pPr>
            <a:r>
              <a:t>Deterministic verification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77456" y="3968496"/>
            <a:ext cx="4352544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80" b="0">
                <a:solidFill>
                  <a:srgbClr val="A8B5CF"/>
                </a:solidFill>
                <a:latin typeface="Aptos"/>
              </a:defRPr>
            </a:pPr>
            <a:r>
              <a:t>Rules verify requirements and preserve UNKNOWN rather than silently converting uncertainty into eligibility.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27648" y="4718304"/>
            <a:ext cx="5285232" cy="1143000"/>
          </a:xfrm>
          <a:prstGeom prst="roundRect">
            <a:avLst/>
          </a:prstGeom>
          <a:solidFill>
            <a:srgbClr val="0E1932"/>
          </a:solidFill>
          <a:ln>
            <a:solidFill>
              <a:srgbClr val="3445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510528" y="4882896"/>
            <a:ext cx="438912" cy="438912"/>
          </a:xfrm>
          <a:prstGeom prst="ellipse">
            <a:avLst/>
          </a:prstGeom>
          <a:solidFill>
            <a:srgbClr val="FBA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10528" y="4965192"/>
            <a:ext cx="43891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5F8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77456" y="4892040"/>
            <a:ext cx="435254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Aptos"/>
              </a:defRPr>
            </a:pPr>
            <a:r>
              <a:t>Human-in-the-loop + traceability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77456" y="5285232"/>
            <a:ext cx="4352544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80" b="0">
                <a:solidFill>
                  <a:srgbClr val="A8B5CF"/>
                </a:solidFill>
                <a:latin typeface="Aptos"/>
              </a:defRPr>
            </a:pPr>
            <a:r>
              <a:t>Contradictions trigger follow-up; the caseworker approves, modifies, requests information or rejects.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6099048"/>
            <a:ext cx="1371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4BBEFF"/>
                </a:solidFill>
                <a:latin typeface="Aptos"/>
              </a:defRPr>
            </a:pPr>
            <a:r>
              <a:t>CORE PRINCIPLE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74519" y="6053328"/>
            <a:ext cx="9052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5F8FF"/>
                </a:solidFill>
                <a:latin typeface="Aptos"/>
              </a:defRPr>
            </a:pPr>
            <a:r>
              <a:t>AI assists interpretation — rules protect decisions — humans stay in control.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64240" y="6510528"/>
            <a:ext cx="548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A8B5CF"/>
                </a:solidFill>
                <a:latin typeface="Aptos"/>
              </a:defRPr>
            </a:pPr>
            <a:r>
              <a:t>2/5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F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01168" y="118872"/>
            <a:ext cx="11658600" cy="50292"/>
          </a:xfrm>
          <a:prstGeom prst="rect">
            <a:avLst/>
          </a:prstGeom>
          <a:solidFill>
            <a:srgbClr val="375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20624"/>
            <a:ext cx="21945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A6B5CF"/>
                </a:solidFill>
                <a:latin typeface="Aptos"/>
              </a:rPr>
              <a:t>02 —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5486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5F8FF"/>
                </a:solidFill>
                <a:latin typeface="Aptos Display"/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74980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6B5CF"/>
                </a:solidFill>
                <a:latin typeface="Aptos"/>
              </a:rPr>
              <a:t>The caseworker request enters one controlled workflow: AI interprets, rules verify, data grounds, and a human makes the decision.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719072"/>
            <a:ext cx="7333488" cy="4416552"/>
          </a:xfrm>
          <a:prstGeom prst="roundRect">
            <a:avLst/>
          </a:prstGeom>
          <a:solidFill>
            <a:srgbClr val="132242"/>
          </a:solidFill>
          <a:ln w="12700">
            <a:solidFill>
              <a:srgbClr val="2E43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1883664"/>
            <a:ext cx="29260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A6B5CF"/>
                </a:solidFill>
                <a:latin typeface="Aptos"/>
              </a:rPr>
              <a:t>APPLICATION / ORCHESTRATION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9536" y="2249424"/>
            <a:ext cx="1993392" cy="658368"/>
          </a:xfrm>
          <a:prstGeom prst="roundRect">
            <a:avLst/>
          </a:prstGeom>
          <a:solidFill>
            <a:srgbClr val="0F1B37"/>
          </a:solidFill>
          <a:ln w="12700">
            <a:solidFill>
              <a:srgbClr val="2E43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59536" y="2249424"/>
            <a:ext cx="50292" cy="658368"/>
          </a:xfrm>
          <a:prstGeom prst="rect">
            <a:avLst/>
          </a:prstGeom>
          <a:solidFill>
            <a:srgbClr val="375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24128" y="2340864"/>
            <a:ext cx="1700784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F5F8FF"/>
                </a:solidFill>
                <a:latin typeface="Aptos"/>
              </a:rPr>
              <a:t>CASEWORKER 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596896"/>
            <a:ext cx="170078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40" b="0">
                <a:solidFill>
                  <a:srgbClr val="A6B5CF"/>
                </a:solidFill>
                <a:latin typeface="Aptos"/>
              </a:rPr>
              <a:t>Next.js • React • TypeScript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80360" y="0"/>
            <a:ext cx="173736" cy="0"/>
          </a:xfrm>
          <a:prstGeom prst="line">
            <a:avLst/>
          </a:prstGeom>
          <a:ln w="19050">
            <a:solidFill>
              <a:srgbClr val="A6B5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081528" y="2249424"/>
            <a:ext cx="1993392" cy="658368"/>
          </a:xfrm>
          <a:prstGeom prst="roundRect">
            <a:avLst/>
          </a:prstGeom>
          <a:solidFill>
            <a:srgbClr val="0F1B37"/>
          </a:solidFill>
          <a:ln w="12700">
            <a:solidFill>
              <a:srgbClr val="2E43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081528" y="2249424"/>
            <a:ext cx="50292" cy="658368"/>
          </a:xfrm>
          <a:prstGeom prst="rect">
            <a:avLst/>
          </a:prstGeom>
          <a:solidFill>
            <a:srgbClr val="3AB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46120" y="2340864"/>
            <a:ext cx="1700784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F5F8FF"/>
                </a:solidFill>
                <a:latin typeface="Aptos"/>
              </a:rPr>
              <a:t>FASTAPI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2596896"/>
            <a:ext cx="170078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40" b="0">
                <a:solidFill>
                  <a:srgbClr val="A6B5CF"/>
                </a:solidFill>
                <a:latin typeface="Aptos"/>
              </a:rPr>
              <a:t>REST API boundary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102352" y="0"/>
            <a:ext cx="173736" cy="0"/>
          </a:xfrm>
          <a:prstGeom prst="line">
            <a:avLst/>
          </a:prstGeom>
          <a:ln w="19050">
            <a:solidFill>
              <a:srgbClr val="A6B5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303520" y="2249424"/>
            <a:ext cx="1993392" cy="658368"/>
          </a:xfrm>
          <a:prstGeom prst="roundRect">
            <a:avLst/>
          </a:prstGeom>
          <a:solidFill>
            <a:srgbClr val="0F1B37"/>
          </a:solidFill>
          <a:ln w="12700">
            <a:solidFill>
              <a:srgbClr val="2E43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303520" y="2249424"/>
            <a:ext cx="50292" cy="658368"/>
          </a:xfrm>
          <a:prstGeom prst="rect">
            <a:avLst/>
          </a:prstGeom>
          <a:solidFill>
            <a:srgbClr val="967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68112" y="2340864"/>
            <a:ext cx="1700784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F5F8FF"/>
                </a:solidFill>
                <a:latin typeface="Aptos"/>
              </a:rPr>
              <a:t>CASE ORCHESTRATOR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68112" y="2596896"/>
            <a:ext cx="170078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40" b="0">
                <a:solidFill>
                  <a:srgbClr val="A6B5CF"/>
                </a:solidFill>
                <a:latin typeface="Aptos"/>
              </a:rPr>
              <a:t>Python • Pydantic v2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" y="3127248"/>
            <a:ext cx="29260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A6B5CF"/>
                </a:solidFill>
                <a:latin typeface="Aptos"/>
              </a:rPr>
              <a:t>MULTI-STAGE CASE WORKFLOW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9536" y="3438144"/>
            <a:ext cx="1261872" cy="658368"/>
          </a:xfrm>
          <a:prstGeom prst="roundRect">
            <a:avLst/>
          </a:prstGeom>
          <a:solidFill>
            <a:srgbClr val="0F1B37"/>
          </a:solidFill>
          <a:ln w="12700">
            <a:solidFill>
              <a:srgbClr val="2E43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50976" y="3557016"/>
            <a:ext cx="228600" cy="228600"/>
          </a:xfrm>
          <a:prstGeom prst="ellipse">
            <a:avLst/>
          </a:prstGeom>
          <a:solidFill>
            <a:srgbClr val="375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50976" y="3575304"/>
            <a:ext cx="2286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50" b="1">
                <a:solidFill>
                  <a:srgbClr val="070F22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52728" y="3511296"/>
            <a:ext cx="804672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19" b="1">
                <a:solidFill>
                  <a:srgbClr val="F5F8FF"/>
                </a:solidFill>
                <a:latin typeface="Aptos"/>
              </a:rPr>
              <a:t>Intake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52728" y="3730752"/>
            <a:ext cx="804672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A6B5CF"/>
                </a:solidFill>
                <a:latin typeface="Aptos"/>
              </a:rPr>
              <a:t>Facts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139696" y="3767328"/>
            <a:ext cx="82296" cy="0"/>
          </a:xfrm>
          <a:prstGeom prst="line">
            <a:avLst/>
          </a:prstGeom>
          <a:ln w="12700">
            <a:solidFill>
              <a:srgbClr val="A6B5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240280" y="3438144"/>
            <a:ext cx="1261872" cy="658368"/>
          </a:xfrm>
          <a:prstGeom prst="roundRect">
            <a:avLst/>
          </a:prstGeom>
          <a:solidFill>
            <a:srgbClr val="0F1B37"/>
          </a:solidFill>
          <a:ln w="12700">
            <a:solidFill>
              <a:srgbClr val="2E43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2331720" y="3557016"/>
            <a:ext cx="228600" cy="228600"/>
          </a:xfrm>
          <a:prstGeom prst="ellipse">
            <a:avLst/>
          </a:prstGeom>
          <a:solidFill>
            <a:srgbClr val="3AB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331720" y="3575304"/>
            <a:ext cx="2286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50" b="1">
                <a:solidFill>
                  <a:srgbClr val="070F22"/>
                </a:solidFill>
                <a:latin typeface="Aptos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33472" y="3511296"/>
            <a:ext cx="804672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19" b="1">
                <a:solidFill>
                  <a:srgbClr val="F5F8FF"/>
                </a:solidFill>
                <a:latin typeface="Aptos"/>
              </a:rPr>
              <a:t>Needs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33472" y="3730752"/>
            <a:ext cx="804672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A6B5CF"/>
                </a:solidFill>
                <a:latin typeface="Aptos"/>
              </a:rPr>
              <a:t>Priority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3520440" y="3767328"/>
            <a:ext cx="82296" cy="0"/>
          </a:xfrm>
          <a:prstGeom prst="line">
            <a:avLst/>
          </a:prstGeom>
          <a:ln w="12700">
            <a:solidFill>
              <a:srgbClr val="A6B5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3621024" y="3438144"/>
            <a:ext cx="1261872" cy="658368"/>
          </a:xfrm>
          <a:prstGeom prst="roundRect">
            <a:avLst/>
          </a:prstGeom>
          <a:solidFill>
            <a:srgbClr val="0F1B37"/>
          </a:solidFill>
          <a:ln w="12700">
            <a:solidFill>
              <a:srgbClr val="2E43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3712464" y="3557016"/>
            <a:ext cx="228600" cy="228600"/>
          </a:xfrm>
          <a:prstGeom prst="ellipse">
            <a:avLst/>
          </a:prstGeom>
          <a:solidFill>
            <a:srgbClr val="30C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712464" y="3575304"/>
            <a:ext cx="2286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50" b="1">
                <a:solidFill>
                  <a:srgbClr val="070F22"/>
                </a:solidFill>
                <a:latin typeface="Aptos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14216" y="3511296"/>
            <a:ext cx="804672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19" b="1">
                <a:solidFill>
                  <a:srgbClr val="F5F8FF"/>
                </a:solidFill>
                <a:latin typeface="Aptos"/>
              </a:rPr>
              <a:t>Matching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14216" y="3730752"/>
            <a:ext cx="804672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A6B5CF"/>
                </a:solidFill>
                <a:latin typeface="Aptos"/>
              </a:rPr>
              <a:t>Evidence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4901184" y="3767328"/>
            <a:ext cx="82296" cy="0"/>
          </a:xfrm>
          <a:prstGeom prst="line">
            <a:avLst/>
          </a:prstGeom>
          <a:ln w="12700">
            <a:solidFill>
              <a:srgbClr val="A6B5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5001768" y="3438144"/>
            <a:ext cx="1261872" cy="658368"/>
          </a:xfrm>
          <a:prstGeom prst="roundRect">
            <a:avLst/>
          </a:prstGeom>
          <a:solidFill>
            <a:srgbClr val="0F1B37"/>
          </a:solidFill>
          <a:ln w="12700">
            <a:solidFill>
              <a:srgbClr val="2E43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5093208" y="3557016"/>
            <a:ext cx="228600" cy="228600"/>
          </a:xfrm>
          <a:prstGeom prst="ellipse">
            <a:avLst/>
          </a:prstGeom>
          <a:solidFill>
            <a:srgbClr val="FFB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093208" y="3575304"/>
            <a:ext cx="2286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50" b="1">
                <a:solidFill>
                  <a:srgbClr val="070F22"/>
                </a:solidFill>
                <a:latin typeface="Aptos"/>
              </a:rPr>
              <a:t>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94960" y="3511296"/>
            <a:ext cx="804672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19" b="1">
                <a:solidFill>
                  <a:srgbClr val="F5F8FF"/>
                </a:solidFill>
                <a:latin typeface="Aptos"/>
              </a:rPr>
              <a:t>Verification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94960" y="3730752"/>
            <a:ext cx="804672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A6B5CF"/>
                </a:solidFill>
                <a:latin typeface="Aptos"/>
              </a:rPr>
              <a:t>Rules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281928" y="3767328"/>
            <a:ext cx="82296" cy="0"/>
          </a:xfrm>
          <a:prstGeom prst="line">
            <a:avLst/>
          </a:prstGeom>
          <a:ln w="12700">
            <a:solidFill>
              <a:srgbClr val="A6B5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6382512" y="3438144"/>
            <a:ext cx="1261872" cy="658368"/>
          </a:xfrm>
          <a:prstGeom prst="roundRect">
            <a:avLst/>
          </a:prstGeom>
          <a:solidFill>
            <a:srgbClr val="0F1B37"/>
          </a:solidFill>
          <a:ln w="12700">
            <a:solidFill>
              <a:srgbClr val="2E43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6473952" y="3557016"/>
            <a:ext cx="228600" cy="228600"/>
          </a:xfrm>
          <a:prstGeom prst="ellipse">
            <a:avLst/>
          </a:prstGeom>
          <a:solidFill>
            <a:srgbClr val="FF6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473952" y="3575304"/>
            <a:ext cx="2286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50" b="1">
                <a:solidFill>
                  <a:srgbClr val="070F22"/>
                </a:solidFill>
                <a:latin typeface="Aptos"/>
              </a:rPr>
              <a:t>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75704" y="3511296"/>
            <a:ext cx="804672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19" b="1">
                <a:solidFill>
                  <a:srgbClr val="F5F8FF"/>
                </a:solidFill>
                <a:latin typeface="Aptos"/>
              </a:rPr>
              <a:t>Action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75704" y="3730752"/>
            <a:ext cx="804672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A6B5CF"/>
                </a:solidFill>
                <a:latin typeface="Aptos"/>
              </a:rPr>
              <a:t>Plan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59536" y="4407408"/>
            <a:ext cx="2395728" cy="713232"/>
          </a:xfrm>
          <a:prstGeom prst="roundRect">
            <a:avLst/>
          </a:prstGeom>
          <a:solidFill>
            <a:srgbClr val="0F1B37"/>
          </a:solidFill>
          <a:ln w="12700">
            <a:solidFill>
              <a:srgbClr val="2E43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859536" y="4407408"/>
            <a:ext cx="50292" cy="713232"/>
          </a:xfrm>
          <a:prstGeom prst="rect">
            <a:avLst/>
          </a:prstGeom>
          <a:solidFill>
            <a:srgbClr val="30C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042415" y="4498848"/>
            <a:ext cx="1600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F5F8FF"/>
                </a:solidFill>
                <a:latin typeface="Aptos"/>
              </a:rPr>
              <a:t>QUALITY / SAFETY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42415" y="4736592"/>
            <a:ext cx="17830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40" b="0">
                <a:solidFill>
                  <a:srgbClr val="A6B5CF"/>
                </a:solidFill>
                <a:latin typeface="Aptos"/>
              </a:rPr>
              <a:t>Final workflow checks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3273552" y="4764024"/>
            <a:ext cx="420624" cy="0"/>
          </a:xfrm>
          <a:prstGeom prst="line">
            <a:avLst/>
          </a:prstGeom>
          <a:ln w="19050">
            <a:solidFill>
              <a:srgbClr val="30CD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3730752" y="4407408"/>
            <a:ext cx="2999232" cy="713232"/>
          </a:xfrm>
          <a:prstGeom prst="roundRect">
            <a:avLst/>
          </a:prstGeom>
          <a:solidFill>
            <a:srgbClr val="0F1B37"/>
          </a:solidFill>
          <a:ln w="12700">
            <a:solidFill>
              <a:srgbClr val="2E43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3730752" y="4407408"/>
            <a:ext cx="50292" cy="713232"/>
          </a:xfrm>
          <a:prstGeom prst="rect">
            <a:avLst/>
          </a:prstGeom>
          <a:solidFill>
            <a:srgbClr val="967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931920" y="4498848"/>
            <a:ext cx="1417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F5F8FF"/>
                </a:solidFill>
                <a:latin typeface="Aptos"/>
              </a:rPr>
              <a:t>HUMAN REVIEW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931920" y="4736592"/>
            <a:ext cx="24231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40" b="0">
                <a:solidFill>
                  <a:srgbClr val="A6B5CF"/>
                </a:solidFill>
                <a:latin typeface="Aptos"/>
              </a:rPr>
              <a:t>Approve • modify • request info • reject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59536" y="5376672"/>
            <a:ext cx="2560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A6B5CF"/>
                </a:solidFill>
                <a:latin typeface="Aptos"/>
              </a:rPr>
              <a:t>GROUNDING + PERSISTENCE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59536" y="5596128"/>
            <a:ext cx="2816352" cy="393192"/>
          </a:xfrm>
          <a:prstGeom prst="roundRect">
            <a:avLst/>
          </a:prstGeom>
          <a:solidFill>
            <a:srgbClr val="0F1B37"/>
          </a:solidFill>
          <a:ln w="12700">
            <a:solidFill>
              <a:srgbClr val="2E43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005840" y="5660136"/>
            <a:ext cx="2514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19" b="1">
                <a:solidFill>
                  <a:srgbClr val="3ABFF5"/>
                </a:solidFill>
                <a:latin typeface="Aptos"/>
              </a:rPr>
              <a:t>Approved Resource KB  •  matching rules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3822191" y="5596128"/>
            <a:ext cx="2816352" cy="393192"/>
          </a:xfrm>
          <a:prstGeom prst="roundRect">
            <a:avLst/>
          </a:prstGeom>
          <a:solidFill>
            <a:srgbClr val="0F1B37"/>
          </a:solidFill>
          <a:ln w="12700">
            <a:solidFill>
              <a:srgbClr val="2E43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3968496" y="5660136"/>
            <a:ext cx="2514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19" b="1">
                <a:solidFill>
                  <a:srgbClr val="FF6974"/>
                </a:solidFill>
                <a:latin typeface="Aptos"/>
              </a:rPr>
              <a:t>PostgreSQL  •  trajectory persistence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193024" y="1719072"/>
            <a:ext cx="3182112" cy="4416552"/>
          </a:xfrm>
          <a:prstGeom prst="roundRect">
            <a:avLst/>
          </a:prstGeom>
          <a:solidFill>
            <a:srgbClr val="0F1B37"/>
          </a:solidFill>
          <a:ln w="12700">
            <a:solidFill>
              <a:srgbClr val="2E43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394192" y="1901952"/>
            <a:ext cx="21945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5F8FF"/>
                </a:solidFill>
                <a:latin typeface="Aptos"/>
              </a:rPr>
              <a:t>TECH STACK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394192" y="2313432"/>
            <a:ext cx="50292" cy="402336"/>
          </a:xfrm>
          <a:prstGeom prst="rect">
            <a:avLst/>
          </a:prstGeom>
          <a:solidFill>
            <a:srgbClr val="375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8558784" y="2313432"/>
            <a:ext cx="749808" cy="173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90" b="1">
                <a:solidFill>
                  <a:srgbClr val="F5F8FF"/>
                </a:solidFill>
                <a:latin typeface="Aptos"/>
              </a:rPr>
              <a:t>Frontend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558784" y="2487168"/>
            <a:ext cx="2633472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6B5CF"/>
                </a:solidFill>
                <a:latin typeface="Aptos"/>
              </a:rPr>
              <a:t>Next.js 14 • React 18 • TypeScript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394192" y="2816352"/>
            <a:ext cx="50292" cy="402336"/>
          </a:xfrm>
          <a:prstGeom prst="rect">
            <a:avLst/>
          </a:prstGeom>
          <a:solidFill>
            <a:srgbClr val="3AB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8558784" y="2816352"/>
            <a:ext cx="749808" cy="173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90" b="1">
                <a:solidFill>
                  <a:srgbClr val="F5F8FF"/>
                </a:solidFill>
                <a:latin typeface="Aptos"/>
              </a:rPr>
              <a:t>Styling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558784" y="2990088"/>
            <a:ext cx="2633472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6B5CF"/>
                </a:solidFill>
                <a:latin typeface="Aptos"/>
              </a:rPr>
              <a:t>Tailwind CSS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394192" y="3319272"/>
            <a:ext cx="50292" cy="402336"/>
          </a:xfrm>
          <a:prstGeom prst="rect">
            <a:avLst/>
          </a:prstGeom>
          <a:solidFill>
            <a:srgbClr val="30C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8558784" y="3319272"/>
            <a:ext cx="749808" cy="173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90" b="1">
                <a:solidFill>
                  <a:srgbClr val="F5F8FF"/>
                </a:solidFill>
                <a:latin typeface="Aptos"/>
              </a:rPr>
              <a:t>Backend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558784" y="3493008"/>
            <a:ext cx="2633472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6B5CF"/>
                </a:solidFill>
                <a:latin typeface="Aptos"/>
              </a:rPr>
              <a:t>Python • FastAPI • Uvicorn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394192" y="3822192"/>
            <a:ext cx="50292" cy="402336"/>
          </a:xfrm>
          <a:prstGeom prst="rect">
            <a:avLst/>
          </a:prstGeom>
          <a:solidFill>
            <a:srgbClr val="967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8558784" y="3822192"/>
            <a:ext cx="749808" cy="173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90" b="1">
                <a:solidFill>
                  <a:srgbClr val="F5F8FF"/>
                </a:solidFill>
                <a:latin typeface="Aptos"/>
              </a:rPr>
              <a:t>AI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558784" y="3995928"/>
            <a:ext cx="2633472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6B5CF"/>
                </a:solidFill>
                <a:latin typeface="Aptos"/>
              </a:rPr>
              <a:t>Google Gen AI SDK (Gemini)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394192" y="4325112"/>
            <a:ext cx="50292" cy="402336"/>
          </a:xfrm>
          <a:prstGeom prst="rect">
            <a:avLst/>
          </a:prstGeom>
          <a:solidFill>
            <a:srgbClr val="FFB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8558784" y="4325112"/>
            <a:ext cx="749808" cy="173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90" b="1">
                <a:solidFill>
                  <a:srgbClr val="F5F8FF"/>
                </a:solidFill>
                <a:latin typeface="Aptos"/>
              </a:rPr>
              <a:t>Validation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558784" y="4498848"/>
            <a:ext cx="2633472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6B5CF"/>
                </a:solidFill>
                <a:latin typeface="Aptos"/>
              </a:rPr>
              <a:t>Pydantic v2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394192" y="4828032"/>
            <a:ext cx="50292" cy="402336"/>
          </a:xfrm>
          <a:prstGeom prst="rect">
            <a:avLst/>
          </a:prstGeom>
          <a:solidFill>
            <a:srgbClr val="FF6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8558784" y="4828032"/>
            <a:ext cx="749808" cy="173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90" b="1">
                <a:solidFill>
                  <a:srgbClr val="F5F8FF"/>
                </a:solidFill>
                <a:latin typeface="Aptos"/>
              </a:rPr>
              <a:t>Database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558784" y="5001768"/>
            <a:ext cx="2633472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6B5CF"/>
                </a:solidFill>
                <a:latin typeface="Aptos"/>
              </a:rPr>
              <a:t>PostgreSQL • psycopg3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394192" y="5330952"/>
            <a:ext cx="50292" cy="402336"/>
          </a:xfrm>
          <a:prstGeom prst="rect">
            <a:avLst/>
          </a:prstGeom>
          <a:solidFill>
            <a:srgbClr val="375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8558784" y="5330952"/>
            <a:ext cx="749808" cy="173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90" b="1">
                <a:solidFill>
                  <a:srgbClr val="F5F8FF"/>
                </a:solidFill>
                <a:latin typeface="Aptos"/>
              </a:rPr>
              <a:t>Testing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558784" y="5504688"/>
            <a:ext cx="2633472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6B5CF"/>
                </a:solidFill>
                <a:latin typeface="Aptos"/>
              </a:rPr>
              <a:t>pytest • httpx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8394192" y="5532120"/>
            <a:ext cx="2779776" cy="429768"/>
          </a:xfrm>
          <a:prstGeom prst="roundRect">
            <a:avLst/>
          </a:prstGeom>
          <a:solidFill>
            <a:srgbClr val="132242"/>
          </a:solidFill>
          <a:ln w="12700">
            <a:solidFill>
              <a:srgbClr val="2E43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8522208" y="5623560"/>
            <a:ext cx="2523744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30CD9A"/>
                </a:solidFill>
                <a:latin typeface="Aptos"/>
              </a:rPr>
              <a:t>LLM interprets  •  deterministic rules verify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30352" y="6419088"/>
            <a:ext cx="39319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A6B5CF"/>
                </a:solidFill>
                <a:latin typeface="Aptos"/>
              </a:rPr>
              <a:t>MigrantAid — Case-to-Action Assistant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1292840" y="6419088"/>
            <a:ext cx="4114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A6B5CF"/>
                </a:solidFill>
                <a:latin typeface="Aptos"/>
              </a:rPr>
              <a:t>3/5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0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15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4BBEFF"/>
                </a:solidFill>
                <a:latin typeface="Aptos"/>
              </a:defRPr>
            </a:pPr>
            <a:r>
              <a:t>03 — END-TO-END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85800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F5F8FF"/>
                </a:solidFill>
                <a:latin typeface="Aptos"/>
              </a:defRPr>
            </a:pPr>
            <a:r>
              <a:t>Case → Evidence → Action → Human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9844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A8B5CF"/>
                </a:solidFill>
                <a:latin typeface="Aptos"/>
              </a:defRPr>
            </a:pPr>
            <a:r>
              <a:t>The workflow is designed to stop unsafe or unsupported referrals from silently progressing.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76272"/>
            <a:ext cx="1353312" cy="987552"/>
          </a:xfrm>
          <a:prstGeom prst="roundRect">
            <a:avLst/>
          </a:prstGeom>
          <a:solidFill>
            <a:srgbClr val="0E1932"/>
          </a:solidFill>
          <a:ln>
            <a:solidFill>
              <a:srgbClr val="3445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2286000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5F8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" y="2651760"/>
            <a:ext cx="1243584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19" b="1">
                <a:solidFill>
                  <a:srgbClr val="F5F8FF"/>
                </a:solidFill>
                <a:latin typeface="Aptos"/>
              </a:defRPr>
            </a:pPr>
            <a:r>
              <a:t>Case</a:t>
            </a:r>
            <a:br/>
            <a:r>
              <a:t>Narrative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56232" y="2514600"/>
            <a:ext cx="14630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4BBEF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02536" y="2176272"/>
            <a:ext cx="1353312" cy="987552"/>
          </a:xfrm>
          <a:prstGeom prst="roundRect">
            <a:avLst/>
          </a:prstGeom>
          <a:solidFill>
            <a:srgbClr val="0E1932"/>
          </a:solidFill>
          <a:ln>
            <a:solidFill>
              <a:srgbClr val="3445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093976" y="2286000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5F8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2651760"/>
            <a:ext cx="1243584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19" b="1">
                <a:solidFill>
                  <a:srgbClr val="F5F8FF"/>
                </a:solidFill>
                <a:latin typeface="Aptos"/>
              </a:defRPr>
            </a:pPr>
            <a:r>
              <a:t>Intake &amp;</a:t>
            </a:r>
            <a:br/>
            <a:r>
              <a:t>Facts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55848" y="2514600"/>
            <a:ext cx="14630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4BBEF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02152" y="2176272"/>
            <a:ext cx="1353312" cy="987552"/>
          </a:xfrm>
          <a:prstGeom prst="roundRect">
            <a:avLst/>
          </a:prstGeom>
          <a:solidFill>
            <a:srgbClr val="0E1932"/>
          </a:solidFill>
          <a:ln>
            <a:solidFill>
              <a:srgbClr val="3445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93592" y="2286000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5F8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57016" y="2651760"/>
            <a:ext cx="1243584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19" b="1">
                <a:solidFill>
                  <a:srgbClr val="F5F8FF"/>
                </a:solidFill>
                <a:latin typeface="Aptos"/>
              </a:defRPr>
            </a:pPr>
            <a:r>
              <a:t>Needs</a:t>
            </a:r>
            <a:br/>
            <a:r>
              <a:t>Assessment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55464" y="2514600"/>
            <a:ext cx="14630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4BBEF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01768" y="2176272"/>
            <a:ext cx="1353312" cy="987552"/>
          </a:xfrm>
          <a:prstGeom prst="roundRect">
            <a:avLst/>
          </a:prstGeom>
          <a:solidFill>
            <a:srgbClr val="0E1932"/>
          </a:solidFill>
          <a:ln>
            <a:solidFill>
              <a:srgbClr val="3445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93207" y="2286000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5F8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56631" y="2651760"/>
            <a:ext cx="1243584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19" b="1">
                <a:solidFill>
                  <a:srgbClr val="F5F8FF"/>
                </a:solidFill>
                <a:latin typeface="Aptos"/>
              </a:defRPr>
            </a:pPr>
            <a:r>
              <a:t>Resource</a:t>
            </a:r>
            <a:br/>
            <a:r>
              <a:t>Matching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79" y="2514600"/>
            <a:ext cx="14630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4BBEF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01383" y="2176272"/>
            <a:ext cx="1353312" cy="987552"/>
          </a:xfrm>
          <a:prstGeom prst="roundRect">
            <a:avLst/>
          </a:prstGeom>
          <a:solidFill>
            <a:srgbClr val="0E1932"/>
          </a:solidFill>
          <a:ln>
            <a:solidFill>
              <a:srgbClr val="3445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92823" y="2286000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5F8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56247" y="2651760"/>
            <a:ext cx="1243584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19" b="1">
                <a:solidFill>
                  <a:srgbClr val="F5F8FF"/>
                </a:solidFill>
                <a:latin typeface="Aptos"/>
              </a:defRPr>
            </a:pPr>
            <a:r>
              <a:t>Deterministic</a:t>
            </a:r>
            <a:br/>
            <a:r>
              <a:t>Verification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54696" y="2514600"/>
            <a:ext cx="14630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4BBEF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01000" y="2176272"/>
            <a:ext cx="1353312" cy="987552"/>
          </a:xfrm>
          <a:prstGeom prst="roundRect">
            <a:avLst/>
          </a:prstGeom>
          <a:solidFill>
            <a:srgbClr val="0E1932"/>
          </a:solidFill>
          <a:ln>
            <a:solidFill>
              <a:srgbClr val="3445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092440" y="2286000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5F8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55864" y="2651760"/>
            <a:ext cx="1243584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19" b="1">
                <a:solidFill>
                  <a:srgbClr val="F5F8FF"/>
                </a:solidFill>
                <a:latin typeface="Aptos"/>
              </a:defRPr>
            </a:pPr>
            <a:r>
              <a:t>Action</a:t>
            </a:r>
            <a:br/>
            <a:r>
              <a:t>Plan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54312" y="2514600"/>
            <a:ext cx="14630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4BBEF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500616" y="2176272"/>
            <a:ext cx="1353312" cy="987552"/>
          </a:xfrm>
          <a:prstGeom prst="roundRect">
            <a:avLst/>
          </a:prstGeom>
          <a:solidFill>
            <a:srgbClr val="0E1932"/>
          </a:solidFill>
          <a:ln>
            <a:solidFill>
              <a:srgbClr val="3445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592056" y="2286000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5F8FF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55480" y="2651760"/>
            <a:ext cx="1243584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19" b="1">
                <a:solidFill>
                  <a:srgbClr val="F5F8FF"/>
                </a:solidFill>
                <a:latin typeface="Aptos"/>
              </a:defRPr>
            </a:pPr>
            <a:r>
              <a:t>Quality &amp;</a:t>
            </a:r>
            <a:br/>
            <a:r>
              <a:t>Safety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53928" y="2514600"/>
            <a:ext cx="14630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4BBEF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1000232" y="2176272"/>
            <a:ext cx="1353312" cy="987552"/>
          </a:xfrm>
          <a:prstGeom prst="roundRect">
            <a:avLst/>
          </a:prstGeom>
          <a:solidFill>
            <a:srgbClr val="0E1932"/>
          </a:solidFill>
          <a:ln>
            <a:solidFill>
              <a:srgbClr val="3445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1091672" y="2286000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5F8FF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55096" y="2651760"/>
            <a:ext cx="1243584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19" b="1">
                <a:solidFill>
                  <a:srgbClr val="F5F8FF"/>
                </a:solidFill>
                <a:latin typeface="Aptos"/>
              </a:defRPr>
            </a:pPr>
            <a:r>
              <a:t>Human</a:t>
            </a:r>
            <a:br/>
            <a:r>
              <a:t>Review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51960" y="34747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34D399"/>
                </a:solidFill>
                <a:latin typeface="Aptos"/>
              </a:defRPr>
            </a:pPr>
            <a:r>
              <a:t>Approved Resource Knowledge Base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15968" y="3767328"/>
            <a:ext cx="3566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A8B5CF"/>
                </a:solidFill>
                <a:latin typeface="Aptos"/>
              </a:defRPr>
            </a:pPr>
            <a:r>
              <a:t>supports Matching + Verification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66928" y="4224528"/>
            <a:ext cx="3566160" cy="1078992"/>
          </a:xfrm>
          <a:prstGeom prst="roundRect">
            <a:avLst/>
          </a:prstGeom>
          <a:solidFill>
            <a:srgbClr val="0E1932"/>
          </a:solidFill>
          <a:ln>
            <a:solidFill>
              <a:srgbClr val="3445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566928" y="4224528"/>
            <a:ext cx="54864" cy="1078992"/>
          </a:xfrm>
          <a:prstGeom prst="rect">
            <a:avLst/>
          </a:prstGeom>
          <a:solidFill>
            <a:srgbClr val="4B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68096" y="4352544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Aptos"/>
              </a:defRPr>
            </a:pPr>
            <a:r>
              <a:t>TRACEABILITY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8096" y="4709160"/>
            <a:ext cx="3200400" cy="5120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A8B5CF"/>
                </a:solidFill>
                <a:latin typeface="Aptos"/>
              </a:defRPr>
            </a:pPr>
            <a:r>
              <a:t>AgentEvent trajectory records what each stage did and what evidence was used.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315968" y="4224528"/>
            <a:ext cx="3566160" cy="1078992"/>
          </a:xfrm>
          <a:prstGeom prst="roundRect">
            <a:avLst/>
          </a:prstGeom>
          <a:solidFill>
            <a:srgbClr val="0E1932"/>
          </a:solidFill>
          <a:ln>
            <a:solidFill>
              <a:srgbClr val="3445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4315968" y="4224528"/>
            <a:ext cx="54864" cy="1078992"/>
          </a:xfrm>
          <a:prstGeom prst="rect">
            <a:avLst/>
          </a:prstGeom>
          <a:solidFill>
            <a:srgbClr val="FBA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517136" y="4352544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Aptos"/>
              </a:defRPr>
            </a:pPr>
            <a:r>
              <a:t>SAFETY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17136" y="4709160"/>
            <a:ext cx="3200400" cy="5120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A8B5CF"/>
                </a:solidFill>
                <a:latin typeface="Aptos"/>
              </a:defRPr>
            </a:pPr>
            <a:r>
              <a:t>Unknown eligibility is never silently treated as satisfied; contradictions remain visible.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065008" y="4224528"/>
            <a:ext cx="3566160" cy="1078992"/>
          </a:xfrm>
          <a:prstGeom prst="roundRect">
            <a:avLst/>
          </a:prstGeom>
          <a:solidFill>
            <a:srgbClr val="0E1932"/>
          </a:solidFill>
          <a:ln>
            <a:solidFill>
              <a:srgbClr val="3445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8065008" y="4224528"/>
            <a:ext cx="54864" cy="107899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266176" y="4352544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Aptos"/>
              </a:defRPr>
            </a:pPr>
            <a:r>
              <a:t>DEMO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66176" y="4709160"/>
            <a:ext cx="3200400" cy="5120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A8B5CF"/>
                </a:solidFill>
                <a:latin typeface="Aptos"/>
              </a:defRPr>
            </a:pPr>
            <a:r>
              <a:t>Show intake → facts → needs → recommendations → action plan → human review.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6928" y="5650992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4BBEFF"/>
                </a:solidFill>
                <a:latin typeface="Aptos"/>
              </a:defRPr>
            </a:pPr>
            <a:r>
              <a:t>NEXT 2.5 MIN: LIVE PRODUCT DEMO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822191" y="5623560"/>
            <a:ext cx="7589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A8B5CF"/>
                </a:solidFill>
                <a:latin typeface="Aptos"/>
              </a:defRPr>
            </a:pPr>
            <a:r>
              <a:t>Start with intake and finish at Human Review / Trajectory.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2920" y="6510528"/>
            <a:ext cx="5486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A8B5CF"/>
                </a:solidFill>
                <a:latin typeface="Aptos"/>
              </a:defRPr>
            </a:pPr>
            <a:r>
              <a:t>MigrantAid — Case-to-Action Assistant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064240" y="6510528"/>
            <a:ext cx="548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A8B5CF"/>
                </a:solidFill>
                <a:latin typeface="Aptos"/>
              </a:defRPr>
            </a:pPr>
            <a:r>
              <a:t>4/5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0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15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150876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000" b="1">
                <a:solidFill>
                  <a:srgbClr val="F5F8FF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33172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4BBEFF"/>
                </a:solidFill>
                <a:latin typeface="Aptos"/>
              </a:defRPr>
            </a:pPr>
            <a:r>
              <a:t>MigrantAid — Case-to-Action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971800"/>
            <a:ext cx="9418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0">
                <a:solidFill>
                  <a:srgbClr val="A8B5CF"/>
                </a:solidFill>
                <a:latin typeface="Aptos"/>
              </a:defRPr>
            </a:pPr>
            <a:r>
              <a:t>Evidence-backed casework assistance with humans in control.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160520"/>
            <a:ext cx="9418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F5F8FF"/>
                </a:solidFill>
                <a:latin typeface="Aptos"/>
              </a:defRPr>
            </a:pPr>
            <a:r>
              <a:t>Developed under the Micro1 Frontier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461772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A8B5CF"/>
                </a:solidFill>
                <a:latin typeface="Aptos"/>
              </a:defRPr>
            </a:pPr>
            <a:r>
              <a:t>Thankful to Micro1 for providing this opportunity to build and showcase the project.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5486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A8B5CF"/>
                </a:solidFill>
                <a:latin typeface="Aptos"/>
              </a:defRPr>
            </a:pPr>
            <a:r>
              <a:t>MigrantAid — Case-to-Action Assistant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510528"/>
            <a:ext cx="548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A8B5CF"/>
                </a:solidFill>
                <a:latin typeface="Aptos"/>
              </a:defRPr>
            </a:pPr>
            <a:r>
              <a:t>5/5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592</Words>
  <Application>Microsoft Office PowerPoint</Application>
  <PresentationFormat>Widescreen</PresentationFormat>
  <Paragraphs>149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GOVIND CHOUDHARI</cp:lastModifiedBy>
  <cp:revision>2</cp:revision>
  <dcterms:created xsi:type="dcterms:W3CDTF">2013-01-27T09:14:16Z</dcterms:created>
  <dcterms:modified xsi:type="dcterms:W3CDTF">2026-08-31T15:01:06Z</dcterms:modified>
  <cp:category/>
</cp:coreProperties>
</file>